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64008"/>
            <a:ext cx="2286000" cy="50794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0"/>
            <a:ext cx="1097280" cy="10972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600200"/>
            <a:ext cx="822960" cy="822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097280"/>
            <a:ext cx="164592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097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AI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31520" y="15087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WasthyaWatch AI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31520" y="251460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Social Listening and Patient Safety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Detection Platform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31520" y="3429000"/>
            <a:ext cx="22860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3703320"/>
            <a:ext cx="160020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37033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14600" y="3703320"/>
            <a:ext cx="160020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14600" y="37033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97680" y="3703320"/>
            <a:ext cx="160020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97680" y="37033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WasthyaWatch AI  ·  Real-Time Patient Safety Signal Detection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8138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892040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WasthyaWatch AI  ·  Real-Time Patient Safety Signal Detection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2606040" cy="324612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371600"/>
            <a:ext cx="26060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5544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591056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67512" y="215798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Detection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7512" y="2578608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of healthcare discussions is too slow — critical patient safety signals are missed or flagged long after they emerge.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337560" y="1371600"/>
            <a:ext cx="2606040" cy="32461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02152" y="15544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591056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02152" y="215798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Data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502152" y="2578608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patient experiences are shared online every day, but remain unanalyzed — a major source of safety insight that goes untapped.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172200" y="1371600"/>
            <a:ext cx="2606040" cy="324612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72200" y="1371600"/>
            <a:ext cx="26060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336792" y="15544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591056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36792" y="215798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Alerts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336792" y="2578608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real-time monitoring, adverse drug reactions and emerging health risks go undetected until they reach a critical level.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8138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892040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WasthyaWatch AI  ·  Real-Time Patient Safety Signal Detection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813816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4173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WasthyaWatch AI is an intelligent healthcare monitoring platform that uses AI, NLP, and Machine Learning to analyze public health discussions, detect patient safety signals, and deliver real-time actionable alerts.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1965960" cy="2377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" y="2487168"/>
            <a:ext cx="438912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523744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12648" y="30175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Monitoring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12648" y="3456432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Reddit, X (Twitter), and public healthcare forums monitored simultaneously in real time.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651760" y="2331720"/>
            <a:ext cx="1965960" cy="2377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98064" y="2487168"/>
            <a:ext cx="438912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2523744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761488" y="30175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NLP-Powered Extraction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2761488" y="3456432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drugs, symptoms, and severity indicators from unstructured text automatically.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800600" y="2331720"/>
            <a:ext cx="1965960" cy="2377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946904" y="2487168"/>
            <a:ext cx="438912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523744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910328" y="30175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Detection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4910328" y="3456432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classify risk levels, detect trends, and surface emerging health patterns.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949440" y="2331720"/>
            <a:ext cx="1965960" cy="2377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095744" y="2487168"/>
            <a:ext cx="438912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2523744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59168" y="30175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7059168" y="3456432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dashboard with live alerts, trend graphs, and AI-generated healthcare insights.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8138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892040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WasthyaWatch AI  ·  Real-Time Patient Safety Signal Detection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1572768" cy="29718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572768"/>
            <a:ext cx="347472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09344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84048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84048" y="2487168"/>
            <a:ext cx="1371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· X · Healthcare Forums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847088" y="256032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011680" y="1417320"/>
            <a:ext cx="1572768" cy="29718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121408" y="1572768"/>
            <a:ext cx="347472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2140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609344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121408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2121408" y="2487168"/>
            <a:ext cx="1371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collection &amp; aggregation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584448" y="256032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3749040" y="1417320"/>
            <a:ext cx="1572768" cy="29718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858768" y="1572768"/>
            <a:ext cx="347472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85876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09344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858768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Processing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3858768" y="2487168"/>
            <a:ext cx="1371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extraction, symptom detection, confidence scoring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5321808" y="256032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5486400" y="1417320"/>
            <a:ext cx="1572768" cy="29718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596128" y="1572768"/>
            <a:ext cx="347472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59612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609344"/>
            <a:ext cx="347472" cy="34747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596128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Detection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5596128" y="2487168"/>
            <a:ext cx="1371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analysis, risk classification, alert generation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7059168" y="256032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7223760" y="1417320"/>
            <a:ext cx="1572768" cy="29718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7333488" y="1572768"/>
            <a:ext cx="347472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733348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1609344"/>
            <a:ext cx="347472" cy="34747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333488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7333488" y="2487168"/>
            <a:ext cx="1371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alerts, trend graphs, recommended actions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502920" y="4526280"/>
            <a:ext cx="8138160" cy="292608"/>
          </a:xfrm>
          <a:prstGeom prst="rect">
            <a:avLst/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562856"/>
            <a:ext cx="201168" cy="20116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60120" y="452628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  ·  Responsible Data Collection  ·  Anonymization  ·  No Personal Identifiable Information  ·  Ethical AI Usage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NLP Integration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8138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892040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WasthyaWatch AI  ·  Real-Time Patient Safety Signal Detection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38404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371600"/>
            <a:ext cx="384048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71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Processing Layer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901952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50976" y="189280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&amp; Medication Extraction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95728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50976" y="2386584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Detection &amp; Mapping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889504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50976" y="288036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Indicator Analysis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83280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50976" y="3374136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Calculation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877056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50976" y="386791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Entity Recognition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4617720" y="1371600"/>
            <a:ext cx="402336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4617720" y="1371600"/>
            <a:ext cx="402336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617720" y="1371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Signal Detection Engine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754880" y="1901952"/>
            <a:ext cx="54864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919472" y="190195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919472" y="213055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cumulative signal growth over time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4754880" y="2560320"/>
            <a:ext cx="54864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919472" y="256032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919472" y="278892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signals as High, Medium, or Low severity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4754880" y="3218688"/>
            <a:ext cx="54864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919472" y="321868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Generation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4919472" y="344728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automated real-time notifications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4754880" y="3877056"/>
            <a:ext cx="54864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919472" y="387705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4919472" y="410565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drug-symptom co-occurrence patterns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8138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892040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WasthyaWatch AI  ·  Real-Time Patient Safety Signal Detection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371600"/>
            <a:ext cx="192024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371600"/>
            <a:ext cx="192024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435608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1248" y="13716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883664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95528" y="1865376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JavaScript</a:t>
            </a:r>
            <a:endParaRPr lang="en-US" sz="10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523744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5528" y="2505456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163824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5528" y="3145536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UI</a:t>
            </a:r>
            <a:endParaRPr lang="en-US" sz="10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3803904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95528" y="3785616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Display &amp; Trend Charts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2505456" y="1371600"/>
            <a:ext cx="192024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2505456" y="1371600"/>
            <a:ext cx="192024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5184" y="1435608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2962656" y="13716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3472" y="1883664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916936" y="1865376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Flask</a:t>
            </a:r>
            <a:endParaRPr lang="en-US" sz="10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3472" y="2523744"/>
            <a:ext cx="201168" cy="20116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2916936" y="2505456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Communication</a:t>
            </a:r>
            <a:endParaRPr lang="en-US" sz="10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3472" y="3163824"/>
            <a:ext cx="201168" cy="20116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2916936" y="3145536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Module Integration</a:t>
            </a:r>
            <a:endParaRPr lang="en-US" sz="105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3472" y="3803904"/>
            <a:ext cx="201168" cy="20116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2916936" y="3785616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Generation Engine</a:t>
            </a:r>
            <a:endParaRPr lang="en-US" sz="1050" dirty="0"/>
          </a:p>
        </p:txBody>
      </p:sp>
      <p:sp>
        <p:nvSpPr>
          <p:cNvPr id="32" name="Shape 20"/>
          <p:cNvSpPr/>
          <p:nvPr/>
        </p:nvSpPr>
        <p:spPr>
          <a:xfrm>
            <a:off x="4626864" y="1371600"/>
            <a:ext cx="192024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33" name="Shape 21"/>
          <p:cNvSpPr/>
          <p:nvPr/>
        </p:nvSpPr>
        <p:spPr>
          <a:xfrm>
            <a:off x="4626864" y="1371600"/>
            <a:ext cx="192024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6592" y="1435608"/>
            <a:ext cx="274320" cy="274320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5084064" y="13716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300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4880" y="1883664"/>
            <a:ext cx="201168" cy="201168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5038344" y="1865376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</a:t>
            </a:r>
            <a:endParaRPr lang="en-US" sz="1050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54880" y="2523744"/>
            <a:ext cx="201168" cy="201168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5038344" y="2505456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1050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54880" y="3163824"/>
            <a:ext cx="201168" cy="201168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5038344" y="3145536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1050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54880" y="3803904"/>
            <a:ext cx="201168" cy="201168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5038344" y="3785616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Classification</a:t>
            </a:r>
            <a:endParaRPr lang="en-US" sz="1050" dirty="0"/>
          </a:p>
        </p:txBody>
      </p:sp>
      <p:sp>
        <p:nvSpPr>
          <p:cNvPr id="44" name="Shape 27"/>
          <p:cNvSpPr/>
          <p:nvPr/>
        </p:nvSpPr>
        <p:spPr>
          <a:xfrm>
            <a:off x="6748272" y="1371600"/>
            <a:ext cx="192024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45" name="Shape 28"/>
          <p:cNvSpPr/>
          <p:nvPr/>
        </p:nvSpPr>
        <p:spPr>
          <a:xfrm>
            <a:off x="6748272" y="1371600"/>
            <a:ext cx="192024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0" y="1435608"/>
            <a:ext cx="274320" cy="274320"/>
          </a:xfrm>
          <a:prstGeom prst="rect">
            <a:avLst/>
          </a:prstGeom>
        </p:spPr>
      </p:pic>
      <p:sp>
        <p:nvSpPr>
          <p:cNvPr id="47" name="Text 29"/>
          <p:cNvSpPr/>
          <p:nvPr/>
        </p:nvSpPr>
        <p:spPr>
          <a:xfrm>
            <a:off x="7205472" y="13716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00" dirty="0"/>
          </a:p>
        </p:txBody>
      </p:sp>
      <p:pic>
        <p:nvPicPr>
          <p:cNvPr id="4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76288" y="1883664"/>
            <a:ext cx="201168" cy="201168"/>
          </a:xfrm>
          <a:prstGeom prst="rect">
            <a:avLst/>
          </a:prstGeom>
        </p:spPr>
      </p:pic>
      <p:sp>
        <p:nvSpPr>
          <p:cNvPr id="49" name="Text 30"/>
          <p:cNvSpPr/>
          <p:nvPr/>
        </p:nvSpPr>
        <p:spPr>
          <a:xfrm>
            <a:off x="7159752" y="1865376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JSON Feeds</a:t>
            </a:r>
            <a:endParaRPr lang="en-US" sz="1050" dirty="0"/>
          </a:p>
        </p:txBody>
      </p:sp>
      <p:pic>
        <p:nvPicPr>
          <p:cNvPr id="5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76288" y="2523744"/>
            <a:ext cx="201168" cy="201168"/>
          </a:xfrm>
          <a:prstGeom prst="rect">
            <a:avLst/>
          </a:prstGeom>
        </p:spPr>
      </p:pic>
      <p:sp>
        <p:nvSpPr>
          <p:cNvPr id="51" name="Text 31"/>
          <p:cNvSpPr/>
          <p:nvPr/>
        </p:nvSpPr>
        <p:spPr>
          <a:xfrm>
            <a:off x="7159752" y="2505456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(Twitter) Social Feeds</a:t>
            </a:r>
            <a:endParaRPr lang="en-US" sz="1050" dirty="0"/>
          </a:p>
        </p:txBody>
      </p:sp>
      <p:pic>
        <p:nvPicPr>
          <p:cNvPr id="5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76288" y="3163824"/>
            <a:ext cx="201168" cy="201168"/>
          </a:xfrm>
          <a:prstGeom prst="rect">
            <a:avLst/>
          </a:prstGeom>
        </p:spPr>
      </p:pic>
      <p:sp>
        <p:nvSpPr>
          <p:cNvPr id="53" name="Text 32"/>
          <p:cNvSpPr/>
          <p:nvPr/>
        </p:nvSpPr>
        <p:spPr>
          <a:xfrm>
            <a:off x="7159752" y="3145536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Healthcare Forums</a:t>
            </a:r>
            <a:endParaRPr lang="en-US" sz="1050" dirty="0"/>
          </a:p>
        </p:txBody>
      </p:sp>
      <p:pic>
        <p:nvPicPr>
          <p:cNvPr id="54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76288" y="3803904"/>
            <a:ext cx="201168" cy="201168"/>
          </a:xfrm>
          <a:prstGeom prst="rect">
            <a:avLst/>
          </a:prstGeom>
        </p:spPr>
      </p:pic>
      <p:sp>
        <p:nvSpPr>
          <p:cNvPr id="55" name="Text 33"/>
          <p:cNvSpPr/>
          <p:nvPr/>
        </p:nvSpPr>
        <p:spPr>
          <a:xfrm>
            <a:off x="7159752" y="3785616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Aggregation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Dashboard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8138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892040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WasthyaWatch AI  ·  Real-Time Patient Safety Signal Detection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371600"/>
            <a:ext cx="19202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1417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84048" y="19019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05456" y="1371600"/>
            <a:ext cx="19202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05456" y="1417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Sources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505456" y="19019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Live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26864" y="1371600"/>
            <a:ext cx="19202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26864" y="1417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26864" y="19019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48272" y="1371600"/>
            <a:ext cx="19202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48272" y="1417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 / Low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748272" y="19019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Severity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2468880"/>
            <a:ext cx="3977640" cy="2176272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2468880"/>
            <a:ext cx="39776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523744"/>
            <a:ext cx="237744" cy="23774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22960" y="24688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Safety Signal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30352" y="290779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Drug: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600200" y="290779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Metformin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30352" y="319125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600200" y="319125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Headache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30352" y="34747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Mentions: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600200" y="347472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Reports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30352" y="375818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1600200" y="375818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30352" y="404164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600200" y="404164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30352" y="432511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600200" y="432511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/ Reddit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754880" y="2468880"/>
            <a:ext cx="3977640" cy="2176272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754880" y="2468880"/>
            <a:ext cx="39776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523744"/>
            <a:ext cx="237744" cy="237744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5193792" y="24688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Safety Signal</a:t>
            </a:r>
            <a:endParaRPr lang="en-US" sz="1250" dirty="0"/>
          </a:p>
        </p:txBody>
      </p:sp>
      <p:sp>
        <p:nvSpPr>
          <p:cNvPr id="40" name="Text 36"/>
          <p:cNvSpPr/>
          <p:nvPr/>
        </p:nvSpPr>
        <p:spPr>
          <a:xfrm>
            <a:off x="4919472" y="290779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Drug: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5989320" y="290779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Paracetamol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4919472" y="319125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5989320" y="3191256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4919472" y="34747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Mentions:</a:t>
            </a:r>
            <a:endParaRPr lang="en-US" sz="1050" dirty="0"/>
          </a:p>
        </p:txBody>
      </p:sp>
      <p:sp>
        <p:nvSpPr>
          <p:cNvPr id="45" name="Text 41"/>
          <p:cNvSpPr/>
          <p:nvPr/>
        </p:nvSpPr>
        <p:spPr>
          <a:xfrm>
            <a:off x="5989320" y="347472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Reports</a:t>
            </a:r>
            <a:endParaRPr lang="en-US" sz="1050" dirty="0"/>
          </a:p>
        </p:txBody>
      </p:sp>
      <p:sp>
        <p:nvSpPr>
          <p:cNvPr id="46" name="Text 42"/>
          <p:cNvSpPr/>
          <p:nvPr/>
        </p:nvSpPr>
        <p:spPr>
          <a:xfrm>
            <a:off x="4919472" y="375818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</a:t>
            </a:r>
            <a:endParaRPr lang="en-US" sz="1050" dirty="0"/>
          </a:p>
        </p:txBody>
      </p:sp>
      <p:sp>
        <p:nvSpPr>
          <p:cNvPr id="47" name="Text 43"/>
          <p:cNvSpPr/>
          <p:nvPr/>
        </p:nvSpPr>
        <p:spPr>
          <a:xfrm>
            <a:off x="5989320" y="375818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48" name="Text 44"/>
          <p:cNvSpPr/>
          <p:nvPr/>
        </p:nvSpPr>
        <p:spPr>
          <a:xfrm>
            <a:off x="4919472" y="404164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</a:t>
            </a:r>
            <a:endParaRPr lang="en-US" sz="1050" dirty="0"/>
          </a:p>
        </p:txBody>
      </p:sp>
      <p:sp>
        <p:nvSpPr>
          <p:cNvPr id="49" name="Text 45"/>
          <p:cNvSpPr/>
          <p:nvPr/>
        </p:nvSpPr>
        <p:spPr>
          <a:xfrm>
            <a:off x="5989320" y="4041648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1050" dirty="0"/>
          </a:p>
        </p:txBody>
      </p:sp>
      <p:sp>
        <p:nvSpPr>
          <p:cNvPr id="50" name="Text 46"/>
          <p:cNvSpPr/>
          <p:nvPr/>
        </p:nvSpPr>
        <p:spPr>
          <a:xfrm>
            <a:off x="4919472" y="432511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050" dirty="0"/>
          </a:p>
        </p:txBody>
      </p:sp>
      <p:sp>
        <p:nvSpPr>
          <p:cNvPr id="51" name="Text 47"/>
          <p:cNvSpPr/>
          <p:nvPr/>
        </p:nvSpPr>
        <p:spPr>
          <a:xfrm>
            <a:off x="5989320" y="432511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/ Reddit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Future Scope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8138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892040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WasthyaWatch AI  ·  Real-Time Patient Safety Signal Detection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371600"/>
            <a:ext cx="393192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371600"/>
            <a:ext cx="393192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3716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Impact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83664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96112" y="18745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identification of patient safety signals</a:t>
            </a:r>
            <a:endParaRPr lang="en-US" sz="11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86584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96112" y="23774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healthcare response over reactive monitoring</a:t>
            </a:r>
            <a:endParaRPr lang="en-US" sz="11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89504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6112" y="28803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analysis of large public health data</a:t>
            </a:r>
            <a:endParaRPr lang="en-US" sz="11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9242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6112" y="3383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Centralized, actionable healthcare intelligence</a:t>
            </a:r>
            <a:endParaRPr lang="en-US" sz="11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895344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96112" y="38862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AI's real-world healthcare utility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4572000" y="1371600"/>
            <a:ext cx="416052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4572000" y="1371600"/>
            <a:ext cx="416052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572000" y="13716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1883664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074920" y="1874520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NLP Models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5074920" y="2075688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precision extraction</a:t>
            </a:r>
            <a:endParaRPr lang="en-US" sz="10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592" y="2395728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074920" y="2386584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150" dirty="0"/>
          </a:p>
        </p:txBody>
      </p:sp>
      <p:sp>
        <p:nvSpPr>
          <p:cNvPr id="29" name="Text 20"/>
          <p:cNvSpPr/>
          <p:nvPr/>
        </p:nvSpPr>
        <p:spPr>
          <a:xfrm>
            <a:off x="5074920" y="2587752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healthcare monitoring</a:t>
            </a:r>
            <a:endParaRPr lang="en-US" sz="10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6592" y="2907792"/>
            <a:ext cx="237744" cy="23774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074920" y="2898648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150" dirty="0"/>
          </a:p>
        </p:txBody>
      </p:sp>
      <p:sp>
        <p:nvSpPr>
          <p:cNvPr id="32" name="Text 22"/>
          <p:cNvSpPr/>
          <p:nvPr/>
        </p:nvSpPr>
        <p:spPr>
          <a:xfrm>
            <a:off x="5074920" y="3099816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on the go</a:t>
            </a:r>
            <a:endParaRPr lang="en-US" sz="10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6592" y="3419856"/>
            <a:ext cx="237744" cy="237744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074920" y="341071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Cloud Deployment</a:t>
            </a:r>
            <a:endParaRPr lang="en-US" sz="1150" dirty="0"/>
          </a:p>
        </p:txBody>
      </p:sp>
      <p:sp>
        <p:nvSpPr>
          <p:cNvPr id="35" name="Text 24"/>
          <p:cNvSpPr/>
          <p:nvPr/>
        </p:nvSpPr>
        <p:spPr>
          <a:xfrm>
            <a:off x="5074920" y="3611880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infrastructure</a:t>
            </a:r>
            <a:endParaRPr lang="en-US" sz="100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6592" y="3931920"/>
            <a:ext cx="237744" cy="237744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074920" y="3922776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Platform Integration</a:t>
            </a:r>
            <a:endParaRPr lang="en-US" sz="1150" dirty="0"/>
          </a:p>
        </p:txBody>
      </p:sp>
      <p:sp>
        <p:nvSpPr>
          <p:cNvPr id="38" name="Text 26"/>
          <p:cNvSpPr/>
          <p:nvPr/>
        </p:nvSpPr>
        <p:spPr>
          <a:xfrm>
            <a:off x="5074920" y="4123944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/ HIS connectivity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64008"/>
            <a:ext cx="2560320" cy="50794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78040" y="1417320"/>
            <a:ext cx="1188720" cy="11887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5544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18872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31520" y="2176272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WasthyaWatch AI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265176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Patient Safety Signal Detection Platform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3154680"/>
            <a:ext cx="201168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291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 AI · NLP · Machine Learning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WasthyaWatch AI  ·  Real-Time Patient Safety Signal Detection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WasthyaWatch AI</dc:title>
  <dc:subject>PptxGenJS Presentation</dc:subject>
  <dc:creator>PptxGenJS</dc:creator>
  <cp:lastModifiedBy>PptxGenJS</cp:lastModifiedBy>
  <cp:revision>1</cp:revision>
  <dcterms:created xsi:type="dcterms:W3CDTF">2026-05-07T21:35:57Z</dcterms:created>
  <dcterms:modified xsi:type="dcterms:W3CDTF">2026-05-07T21:35:57Z</dcterms:modified>
</cp:coreProperties>
</file>